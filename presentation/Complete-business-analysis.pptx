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Figtree" panose="020B0604020202020204" charset="0"/>
      <p:regular r:id="rId15"/>
    </p:embeddedFont>
    <p:embeddedFont>
      <p:font typeface="Figtree Medium" panose="020B0604020202020204" charset="0"/>
      <p:regular r:id="rId16"/>
    </p:embeddedFont>
    <p:embeddedFont>
      <p:font typeface="Figtree SemiBold" panose="020B0604020202020204" charset="0"/>
      <p:regular r:id="rId17"/>
    </p:embeddedFont>
    <p:embeddedFont>
      <p:font typeface="Instrument Serif" panose="020B0604020202020204" charset="0"/>
      <p:regular r:id="rId18"/>
    </p:embeddedFont>
    <p:embeddedFont>
      <p:font typeface="Urbanist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284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40545"/>
            <a:ext cx="5892653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6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Complete business</a:t>
            </a:r>
            <a:endParaRPr lang="en-US" sz="6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6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analysis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09585" y="3956745"/>
            <a:ext cx="589265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churn, property pricing, and sales performance through data, models, and action.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4811415"/>
            <a:ext cx="589265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Project / Capstone · 2026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377" y="6057900"/>
            <a:ext cx="55878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Executive capstone briefing across three predictive and descriptive business domains.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5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Three business questions frame the project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585" y="1347391"/>
            <a:ext cx="3454314" cy="4901009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575991"/>
            <a:ext cx="798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38179" y="3382665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Customer churn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8179" y="3779540"/>
            <a:ext cx="29971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Identify customers at risk and understand the factors associated with leaving.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1347391"/>
            <a:ext cx="3454314" cy="4901009"/>
          </a:xfrm>
          <a:prstGeom prst="roundRect">
            <a:avLst>
              <a:gd name="adj" fmla="val 5294"/>
            </a:avLst>
          </a:prstGeom>
          <a:solidFill>
            <a:srgbClr val="DAD6CF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1575991"/>
            <a:ext cx="8370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97285" y="3511550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Property pricing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7285" y="3908425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Understand what drives price and build a data-driven prediction model.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1347391"/>
            <a:ext cx="3454314" cy="4901009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1575991"/>
            <a:ext cx="8320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56391" y="3382665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Sales performance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56391" y="3779540"/>
            <a:ext cx="299712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Identify high-performing products, compare regions, and analyze sales drivers.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29714" y="64611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5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One workflow connects analysis to action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09585" y="2214463"/>
            <a:ext cx="8218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406" y="2220813"/>
            <a:ext cx="22007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81310" y="2214463"/>
            <a:ext cx="854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27972" y="2220813"/>
            <a:ext cx="193928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2214463"/>
            <a:ext cx="8453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61777" y="2220813"/>
            <a:ext cx="19486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EDA and visualization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67573" y="2214463"/>
            <a:ext cx="8551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4731" y="2220813"/>
            <a:ext cx="216737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Statistical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4694833"/>
            <a:ext cx="8484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05.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095" y="4701183"/>
            <a:ext cx="217402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1310" y="4694833"/>
            <a:ext cx="859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06.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2338" y="4701183"/>
            <a:ext cx="19349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Business insights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442" y="4694833"/>
            <a:ext cx="8311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07.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47589" y="4701183"/>
            <a:ext cx="19627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67573" y="4694833"/>
            <a:ext cx="8649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08.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24553" y="4701183"/>
            <a:ext cx="21575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Implementation plan</a:t>
            </a:r>
            <a:endParaRPr lang="en-US" sz="1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24265"/>
            <a:ext cx="190495" cy="19050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46366" y="1328341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2" name="Shape 18"/>
          <p:cNvSpPr/>
          <p:nvPr/>
        </p:nvSpPr>
        <p:spPr>
          <a:xfrm>
            <a:off x="6089498" y="1328341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3" name="Shape 19"/>
          <p:cNvSpPr/>
          <p:nvPr/>
        </p:nvSpPr>
        <p:spPr>
          <a:xfrm>
            <a:off x="8832629" y="1328341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4" name="Shape 20"/>
          <p:cNvSpPr/>
          <p:nvPr/>
        </p:nvSpPr>
        <p:spPr>
          <a:xfrm>
            <a:off x="609585" y="3573760"/>
            <a:ext cx="2743131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5" name="Shape 21"/>
          <p:cNvSpPr/>
          <p:nvPr/>
        </p:nvSpPr>
        <p:spPr>
          <a:xfrm>
            <a:off x="3346366" y="3580110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6" name="Shape 22"/>
          <p:cNvSpPr/>
          <p:nvPr/>
        </p:nvSpPr>
        <p:spPr>
          <a:xfrm>
            <a:off x="3352716" y="3573760"/>
            <a:ext cx="2743131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7" name="Shape 23"/>
          <p:cNvSpPr/>
          <p:nvPr/>
        </p:nvSpPr>
        <p:spPr>
          <a:xfrm>
            <a:off x="6089498" y="3580110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8" name="Shape 24"/>
          <p:cNvSpPr/>
          <p:nvPr/>
        </p:nvSpPr>
        <p:spPr>
          <a:xfrm>
            <a:off x="6095848" y="3573760"/>
            <a:ext cx="2743131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9" name="Shape 25"/>
          <p:cNvSpPr/>
          <p:nvPr/>
        </p:nvSpPr>
        <p:spPr>
          <a:xfrm>
            <a:off x="8832629" y="3580110"/>
            <a:ext cx="12700" cy="225177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30" name="Shape 26"/>
          <p:cNvSpPr/>
          <p:nvPr/>
        </p:nvSpPr>
        <p:spPr>
          <a:xfrm>
            <a:off x="8838979" y="3573760"/>
            <a:ext cx="2743131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31" name="Text 27"/>
          <p:cNvSpPr/>
          <p:nvPr/>
        </p:nvSpPr>
        <p:spPr>
          <a:xfrm>
            <a:off x="11431599" y="6461125"/>
            <a:ext cx="76009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6756231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Three datasets support the analysis</a:t>
            </a:r>
            <a:endParaRPr lang="en-US" sz="4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07406"/>
          <a:ext cx="6756231" cy="2574066"/>
        </p:xfrm>
        <a:graphic>
          <a:graphicData uri="http://schemas.openxmlformats.org/drawingml/2006/table">
            <a:tbl>
              <a:tblPr/>
              <a:tblGrid>
                <a:gridCol w="2026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Dataset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Records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Purpose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Customer churn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500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Churn analysis and prediction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Property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300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Price analysis and prediction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Sales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100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Product and regional analysis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09585" y="5203825"/>
            <a:ext cx="67562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TECHNICAL TOOLING STACK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9585" y="5429250"/>
            <a:ext cx="675623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Python, Pandas, NumPy, Matplotlib, Seaborn, SciPy, Scikit-learn, Jupyter Notebook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377" y="6057900"/>
            <a:ext cx="645143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Cleaned tabular inputs verified across classification, regression, and variance testing modules.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209550"/>
            <a:ext cx="190495" cy="190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85" y="6461125"/>
            <a:ext cx="769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EXPLORATORY ANALYSIS ·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Contract and tenure reveal where churn patterns emerge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3280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Examine tenure, charges, contract, and payment information together.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473127"/>
            <a:ext cx="3454314" cy="3426023"/>
          </a:xfrm>
          <a:prstGeom prst="roundRect">
            <a:avLst>
              <a:gd name="adj" fmla="val 533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01727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8179" y="2927152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Churn distribution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8179" y="3324027"/>
            <a:ext cx="2997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Qualitative view of potential churn patterns.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1" y="2473127"/>
            <a:ext cx="3454314" cy="3426023"/>
          </a:xfrm>
          <a:prstGeom prst="roundRect">
            <a:avLst>
              <a:gd name="adj" fmla="val 5338"/>
            </a:avLst>
          </a:prstGeom>
          <a:solidFill>
            <a:srgbClr val="DAD6CF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2701727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7285" y="2927152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Churn by contract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7285" y="3324027"/>
            <a:ext cx="2997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Qualitative view of potential churn patterns.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7797" y="2473127"/>
            <a:ext cx="3454314" cy="3426023"/>
          </a:xfrm>
          <a:prstGeom prst="roundRect">
            <a:avLst>
              <a:gd name="adj" fmla="val 533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1" y="2701727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56391" y="2927152"/>
            <a:ext cx="299712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Tenure versus churn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56391" y="3324027"/>
            <a:ext cx="2997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Qualitative view of potential churn patterns.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377" y="6057900"/>
            <a:ext cx="1066773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the visuals to highlight potential churn patterns without inventing values not present in the source.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27631" y="6461125"/>
            <a:ext cx="76406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MODEL PERFORMANCE · LOGISTIC REGRESSION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churn model is accurate, but recall is the watchpoint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3280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 takeaway: the model correctly classified 93% of test observations and identified 6 of 11 actual churners.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473127"/>
            <a:ext cx="5333867" cy="314523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01727"/>
            <a:ext cx="5105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CLASSIFICATION METRICS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179" y="2958902"/>
          <a:ext cx="4876678" cy="914400"/>
        </p:xfrm>
        <a:graphic>
          <a:graphicData uri="http://schemas.openxmlformats.org/drawingml/2006/table">
            <a:tbl>
              <a:tblPr/>
              <a:tblGrid>
                <a:gridCol w="292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Metric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Result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Accuracy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93.0%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Precision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75.0%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Recall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2625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54.5%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F1 score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63.2%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ROC-AUC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0.982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48244" y="2473127"/>
            <a:ext cx="5333867" cy="314523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76838" y="2701727"/>
            <a:ext cx="5105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CONFUSION MATRIX (N = 100)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6838" y="2958902"/>
          <a:ext cx="4876678" cy="914400"/>
        </p:xfrm>
        <a:graphic>
          <a:graphicData uri="http://schemas.openxmlformats.org/drawingml/2006/table">
            <a:tbl>
              <a:tblPr/>
              <a:tblGrid>
                <a:gridCol w="195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Predicted no churn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Predicted churn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Actual no churn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87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Actual churn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6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76838" y="4546402"/>
            <a:ext cx="487667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 missed churners out of 11 true churn cases suggest tuning decision thresholds for business intervention.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777111"/>
            <a:ext cx="190495" cy="19050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914377" y="5777111"/>
            <a:ext cx="1066773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Logistic regression test evaluation: strong overall discriminative power (ROC-AUC 0.982) with actionable recall trade-offs.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28821" y="6461125"/>
            <a:ext cx="76287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EXPLORATORY ANALYSIS · REAL ESTATE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6756231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Property characteristics explain price variation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32806"/>
            <a:ext cx="71118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Feature interactions across area, bedrooms, bathrooms, age, location, and property type.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473127"/>
            <a:ext cx="2150413" cy="3426023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01727"/>
            <a:ext cx="19218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8179" y="2927152"/>
            <a:ext cx="16932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Area vs price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179" y="3292277"/>
            <a:ext cx="1693225" cy="11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Strong linear upward trend where total square footage forms the primary baseline for valuation.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12394" y="2473127"/>
            <a:ext cx="2150513" cy="3426023"/>
          </a:xfrm>
          <a:prstGeom prst="roundRect">
            <a:avLst>
              <a:gd name="adj" fmla="val 8504"/>
            </a:avLst>
          </a:prstGeom>
          <a:solidFill>
            <a:srgbClr val="DAD6CF"/>
          </a:solidFill>
          <a:ln/>
        </p:spPr>
      </p:sp>
      <p:sp>
        <p:nvSpPr>
          <p:cNvPr id="10" name="Text 8"/>
          <p:cNvSpPr/>
          <p:nvPr/>
        </p:nvSpPr>
        <p:spPr>
          <a:xfrm>
            <a:off x="3140989" y="2701727"/>
            <a:ext cx="19219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40989" y="2927152"/>
            <a:ext cx="16933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Price by type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40989" y="3292277"/>
            <a:ext cx="1693324" cy="11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Clear stratification across villas, apartments, and townhouses reflecting distinct build costs.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15303" y="2473127"/>
            <a:ext cx="2150413" cy="3426023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43897" y="2701727"/>
            <a:ext cx="19218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3897" y="2927152"/>
            <a:ext cx="16932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Price by location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3897" y="3292277"/>
            <a:ext cx="1693225" cy="11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Substantial location premiums driven by neighborhood demand and proximity to core commercial hubs.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377" y="6057900"/>
            <a:ext cx="645143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Six core input variables establish the foundation for linear regression modeling across 300 properties.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209550"/>
            <a:ext cx="190495" cy="190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585" y="6461125"/>
            <a:ext cx="75920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52984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MODEL PERFORMANCE · LINEAR REGRESSION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1078409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pricing model explains most test-set variation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376190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linear regression model explains approximately 94.1% of the variation in test-set property prices.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716510"/>
            <a:ext cx="4622684" cy="3288506"/>
          </a:xfrm>
          <a:prstGeom prst="roundRect">
            <a:avLst>
              <a:gd name="adj" fmla="val 5561"/>
            </a:avLst>
          </a:prstGeom>
          <a:solidFill>
            <a:srgbClr val="DAD6C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654326"/>
            <a:ext cx="43940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COEFFICIENT OF DETERMINATION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8179" y="3879751"/>
            <a:ext cx="4165496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92" dirty="0">
                <a:solidFill>
                  <a:srgbClr val="00000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0.941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38179" y="4797326"/>
            <a:ext cx="416549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R² goodness of fit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36962" y="2716510"/>
            <a:ext cx="6045148" cy="3288506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765557" y="2945110"/>
            <a:ext cx="581655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LINEAR REGRESSION RESULTS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5557" y="3202285"/>
          <a:ext cx="5587960" cy="914400"/>
        </p:xfrm>
        <a:graphic>
          <a:graphicData uri="http://schemas.openxmlformats.org/drawingml/2006/table">
            <a:tbl>
              <a:tblPr/>
              <a:tblGrid>
                <a:gridCol w="3464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Metric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Result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Mean Absolute Error (MAE)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2,188,736.34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Root Mean Squared Error (RMSE)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2,907,633.21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R-squared (R²)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0.941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22670" y="6461125"/>
            <a:ext cx="76902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REVENUE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Laptop and the North region lead sales performance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2113756"/>
            <a:ext cx="3454314" cy="1740297"/>
          </a:xfrm>
          <a:prstGeom prst="roundRect">
            <a:avLst>
              <a:gd name="adj" fmla="val 1050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57872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TOTAL SALES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8179" y="2883297"/>
            <a:ext cx="299712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100" spc="-96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12,365,048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368691" y="2113756"/>
            <a:ext cx="3454314" cy="1740297"/>
          </a:xfrm>
          <a:prstGeom prst="roundRect">
            <a:avLst>
              <a:gd name="adj" fmla="val 1050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2657872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TOTAL QUANTITY SOLD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97285" y="2883297"/>
            <a:ext cx="299712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100" spc="-96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478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127797" y="2113756"/>
            <a:ext cx="3454314" cy="1740297"/>
          </a:xfrm>
          <a:prstGeom prst="roundRect">
            <a:avLst>
              <a:gd name="adj" fmla="val 1050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2657872"/>
            <a:ext cx="32257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AVERAGE TRANSACTION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56391" y="2883297"/>
            <a:ext cx="299712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100" spc="-96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123,650.48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09585" y="4158853"/>
            <a:ext cx="5333867" cy="1740297"/>
          </a:xfrm>
          <a:prstGeom prst="roundRect">
            <a:avLst>
              <a:gd name="adj" fmla="val 10508"/>
            </a:avLst>
          </a:prstGeom>
          <a:solidFill>
            <a:srgbClr val="DAD6C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4781352"/>
            <a:ext cx="13715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PRODUCT LEADER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8179" y="5006777"/>
            <a:ext cx="137156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Laptop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14438" y="4842272"/>
            <a:ext cx="3200419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00000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3,889,210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248244" y="4158853"/>
            <a:ext cx="5333867" cy="1740297"/>
          </a:xfrm>
          <a:prstGeom prst="roundRect">
            <a:avLst>
              <a:gd name="adj" fmla="val 1050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838" y="4781352"/>
            <a:ext cx="13715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TERRITORY LEADER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6838" y="5006777"/>
            <a:ext cx="137156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North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53097" y="4842272"/>
            <a:ext cx="3200419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3,983,635</a:t>
            </a:r>
            <a:endParaRPr lang="en-US" sz="2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377" y="6057900"/>
            <a:ext cx="1066773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 commercial findings from 100 transaction records: Laptop and North region form the primary revenue backbone.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428821" y="6461125"/>
            <a:ext cx="76287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HYPOTHESIS TESTING · INFERENTIAL STATISTICS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Sales move with quantity and price, but regions are not yet distinct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3280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Result: there is insufficient statistical evidence to conclude that average sales differ across the four regions at the 5% significance level.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473127"/>
            <a:ext cx="5689458" cy="3426023"/>
          </a:xfrm>
          <a:prstGeom prst="roundRect">
            <a:avLst>
              <a:gd name="adj" fmla="val 533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01727"/>
            <a:ext cx="54608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PEARSON CORRELATION COEFFICIENTS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179" y="2981127"/>
          <a:ext cx="5232269" cy="2574066"/>
        </p:xfrm>
        <a:graphic>
          <a:graphicData uri="http://schemas.openxmlformats.org/drawingml/2006/table">
            <a:tbl>
              <a:tblPr/>
              <a:tblGrid>
                <a:gridCol w="34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Relationship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Quantity – total sales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0.688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Price – total sales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0.646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Quantity – price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0.008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603736" y="2473127"/>
            <a:ext cx="4978375" cy="3426023"/>
          </a:xfrm>
          <a:prstGeom prst="roundRect">
            <a:avLst>
              <a:gd name="adj" fmla="val 533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832330" y="2701727"/>
            <a:ext cx="47497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ONE-WAY ANOVA (REGIONAL SALES)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2330" y="2981127"/>
          <a:ext cx="4521186" cy="2574066"/>
        </p:xfrm>
        <a:graphic>
          <a:graphicData uri="http://schemas.openxmlformats.org/drawingml/2006/table">
            <a:tbl>
              <a:tblPr/>
              <a:tblGrid>
                <a:gridCol w="2486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Test parameter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Result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F-statistic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2.164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p-value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0.097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7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Significance level (α)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0.05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57900"/>
            <a:ext cx="190495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377" y="6057900"/>
            <a:ext cx="1066773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Statistical testing reveals volume and pricing discipline drive revenue, whereas geographic territory segmentation remains statistically uniform.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48168" y="6461125"/>
            <a:ext cx="74352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CLOSING SYNTHESIS · KEY INSIGHTS &amp;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Key insights point to focused, measurable next steps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2119908"/>
            <a:ext cx="5333867" cy="412849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348508"/>
            <a:ext cx="5105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8179" y="2573933"/>
            <a:ext cx="487667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Customer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2970808"/>
            <a:ext cx="4876678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Churn prediction model achieved 93% accuracy.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Churn recall was 54.5%.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8179" y="3689548"/>
            <a:ext cx="487667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Property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4086423"/>
            <a:ext cx="510527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Regression model achieved R² = 0.941.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179" y="4502944"/>
            <a:ext cx="487667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Sales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8179" y="4899819"/>
            <a:ext cx="4876678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Laptop had the highest total sales.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North had the highest regional sales.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Regional differences were not statistically significant at α = 0.05.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2119908"/>
            <a:ext cx="5333867" cy="412849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2348508"/>
            <a:ext cx="5105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76838" y="2605683"/>
            <a:ext cx="4876678" cy="1466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Develop a churn-risk monitoring process.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property predictions as a pricing reference.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Monitor product and regional sales.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Track average transaction value.</a:t>
            </a:r>
            <a:endParaRPr lang="en-US" sz="1400" dirty="0"/>
          </a:p>
          <a:p>
            <a:pPr marL="284480" indent="-28448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Continuously monitor model performance.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6838" y="5838230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Translate model outputs into repeatable operating routines.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7139" y="6461125"/>
            <a:ext cx="71455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712" y="540892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CLOSING SYNTHESIS · IMPLEMENTATION PLAN &amp; 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55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800" kern="100" spc="-84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Turn analysis into an operating rhythm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3712" y="1778049"/>
            <a:ext cx="6400640" cy="2785467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38179" y="2476004"/>
            <a:ext cx="61720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80" dirty="0">
                <a:solidFill>
                  <a:srgbClr val="1C1C1B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IMPLEMENTATION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8179" y="2733179"/>
            <a:ext cx="125716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Month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3130054"/>
            <a:ext cx="12571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00141" y="2733179"/>
            <a:ext cx="125726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Month 1–2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0141" y="3130054"/>
            <a:ext cx="12572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Property Pricing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62202" y="2733179"/>
            <a:ext cx="125726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Month 2–3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62202" y="3130054"/>
            <a:ext cx="12572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Optimization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24263" y="2733179"/>
            <a:ext cx="125726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Ongoing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24263" y="3130054"/>
            <a:ext cx="12572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512" y="2733179"/>
            <a:ext cx="3810004" cy="2071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1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855" y="4804272"/>
            <a:ext cx="10972526" cy="81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Conclusion: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project demonstrates how business data can be transformed into actionable insights through EDA, statistical analysis, machine learning, and structured implementation planning.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615" y="209550"/>
            <a:ext cx="190495" cy="1905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58586" y="6461125"/>
            <a:ext cx="7331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858</Words>
  <Application>Microsoft Office PowerPoint</Application>
  <PresentationFormat>Widescreen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Instrument Serif</vt:lpstr>
      <vt:lpstr>Figtree Medium</vt:lpstr>
      <vt:lpstr>Urbanist</vt:lpstr>
      <vt:lpstr>Arial</vt:lpstr>
      <vt:lpstr>Figtree SemiBold</vt:lpstr>
      <vt:lpstr>Figtree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Rutuja</dc:creator>
  <cp:lastModifiedBy>Rutuja Bhor</cp:lastModifiedBy>
  <cp:revision>2</cp:revision>
  <dcterms:created xsi:type="dcterms:W3CDTF">2026-10-03T18:28:04Z</dcterms:created>
  <dcterms:modified xsi:type="dcterms:W3CDTF">2026-10-03T18:33:51Z</dcterms:modified>
</cp:coreProperties>
</file>